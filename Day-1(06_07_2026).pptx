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-1-1.png"/><Relationship Id="rId4" Type="http://schemas.openxmlformats.org/officeDocument/2006/relationships/image" Target="../media/image-1-2.png"/><Relationship Id="rId5" Type="http://schemas.openxmlformats.org/officeDocument/2006/relationships/image" Target="../media/image-1-3.png"/><Relationship Id="rId6" Type="http://schemas.openxmlformats.org/officeDocument/2006/relationships/image" Target="../media/image-1-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-8-1.png"/><Relationship Id="rId4" Type="http://schemas.openxmlformats.org/officeDocument/2006/relationships/image" Target="../media/image-8-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A3D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6FA85A">
              <a:alpha val="2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6FA85A">
              <a:alpha val="180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"/>
          <p:cNvSpPr/>
          <p:nvPr/>
        </p:nvSpPr>
        <p:spPr>
          <a:xfrm>
            <a:off x="822960" y="777240"/>
            <a:ext cx="822900" cy="822900"/>
          </a:xfrm>
          <a:prstGeom prst="ellipse">
            <a:avLst/>
          </a:prstGeom>
          <a:solidFill>
            <a:srgbClr val="6FA8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" name="Google Shape;5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6930" y="99121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"/>
          <p:cNvSpPr/>
          <p:nvPr/>
        </p:nvSpPr>
        <p:spPr>
          <a:xfrm>
            <a:off x="822960" y="1737360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E4B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E4B8"/>
                </a:solidFill>
                <a:latin typeface="Calibri"/>
                <a:ea typeface="Calibri"/>
                <a:cs typeface="Calibri"/>
                <a:sym typeface="Calibri"/>
              </a:rPr>
              <a:t>CAPSTONE-LINKED SEMINAR PRESENTATION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822960" y="2057400"/>
            <a:ext cx="10058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AI &amp; Digital Tools for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Environmental Sustainability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" name="Google Shape;54;p1"/>
          <p:cNvCxnSpPr/>
          <p:nvPr/>
        </p:nvCxnSpPr>
        <p:spPr>
          <a:xfrm>
            <a:off x="822960" y="3703320"/>
            <a:ext cx="2011800" cy="0"/>
          </a:xfrm>
          <a:prstGeom prst="straightConnector1">
            <a:avLst/>
          </a:prstGeom>
          <a:noFill/>
          <a:ln cap="flat" cmpd="sng" w="25400">
            <a:solidFill>
              <a:srgbClr val="6FA85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1"/>
          <p:cNvSpPr/>
          <p:nvPr/>
        </p:nvSpPr>
        <p:spPr>
          <a:xfrm>
            <a:off x="822960" y="3931920"/>
            <a:ext cx="7863900" cy="960000"/>
          </a:xfrm>
          <a:prstGeom prst="roundRect">
            <a:avLst>
              <a:gd fmla="val 7619" name="adj"/>
            </a:avLst>
          </a:prstGeom>
          <a:solidFill>
            <a:srgbClr val="FFFFFF">
              <a:alpha val="9412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" name="Google Shape;5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7552" y="407822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/>
          <p:nvPr/>
        </p:nvSpPr>
        <p:spPr>
          <a:xfrm>
            <a:off x="987552" y="4389120"/>
            <a:ext cx="169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5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FA85A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987552" y="4590288"/>
            <a:ext cx="169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4A3D"/>
                </a:solidFill>
                <a:latin typeface="Calibri"/>
                <a:ea typeface="Calibri"/>
                <a:cs typeface="Calibri"/>
                <a:sym typeface="Calibri"/>
              </a:rPr>
              <a:t>Pa</a:t>
            </a:r>
            <a:r>
              <a:rPr b="1" lang="en-US" sz="1250">
                <a:solidFill>
                  <a:srgbClr val="1F4A3D"/>
                </a:solidFill>
                <a:latin typeface="Calibri"/>
                <a:ea typeface="Calibri"/>
                <a:cs typeface="Calibri"/>
                <a:sym typeface="Calibri"/>
              </a:rPr>
              <a:t>tel Dhiraj Nitin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" name="Google Shape;5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53512" y="407822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"/>
          <p:cNvSpPr/>
          <p:nvPr/>
        </p:nvSpPr>
        <p:spPr>
          <a:xfrm>
            <a:off x="2953512" y="4389120"/>
            <a:ext cx="169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5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FA85A"/>
                </a:solidFill>
                <a:latin typeface="Calibri"/>
                <a:ea typeface="Calibri"/>
                <a:cs typeface="Calibri"/>
                <a:sym typeface="Calibri"/>
              </a:rPr>
              <a:t>ENROLLMENT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2953512" y="4590288"/>
            <a:ext cx="169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4A3D"/>
                </a:solidFill>
                <a:latin typeface="Calibri"/>
                <a:ea typeface="Calibri"/>
                <a:cs typeface="Calibri"/>
                <a:sym typeface="Calibri"/>
              </a:rPr>
              <a:t>24084013</a:t>
            </a:r>
            <a:r>
              <a:rPr b="1" lang="en-US" sz="1250">
                <a:solidFill>
                  <a:srgbClr val="1F4A3D"/>
                </a:solidFill>
                <a:latin typeface="Calibri"/>
                <a:ea typeface="Calibri"/>
                <a:cs typeface="Calibri"/>
                <a:sym typeface="Calibri"/>
              </a:rPr>
              <a:t>1099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" name="Google Shape;6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19472" y="407822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"/>
          <p:cNvSpPr/>
          <p:nvPr/>
        </p:nvSpPr>
        <p:spPr>
          <a:xfrm>
            <a:off x="4919472" y="4389120"/>
            <a:ext cx="169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5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FA85A"/>
                </a:solidFill>
                <a:latin typeface="Calibri"/>
                <a:ea typeface="Calibri"/>
                <a:cs typeface="Calibri"/>
                <a:sym typeface="Calibri"/>
              </a:rPr>
              <a:t>STREAM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4919472" y="4590288"/>
            <a:ext cx="169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4A3D"/>
                </a:solidFill>
                <a:latin typeface="Calibri"/>
                <a:ea typeface="Calibri"/>
                <a:cs typeface="Calibri"/>
                <a:sym typeface="Calibri"/>
              </a:rPr>
              <a:t>CSE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" name="Google Shape;65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85432" y="407822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"/>
          <p:cNvSpPr/>
          <p:nvPr/>
        </p:nvSpPr>
        <p:spPr>
          <a:xfrm>
            <a:off x="6885432" y="4389120"/>
            <a:ext cx="1691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5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FA85A"/>
                </a:solidFill>
                <a:latin typeface="Calibri"/>
                <a:ea typeface="Calibri"/>
                <a:cs typeface="Calibri"/>
                <a:sym typeface="Calibri"/>
              </a:rPr>
              <a:t>COLLEGE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6885432" y="4590288"/>
            <a:ext cx="169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3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4A3D"/>
                </a:solidFill>
                <a:latin typeface="Calibri"/>
                <a:ea typeface="Calibri"/>
                <a:cs typeface="Calibri"/>
                <a:sym typeface="Calibri"/>
              </a:rPr>
              <a:t>RNGPIT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1F4A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35508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02412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3232" y="1677924"/>
            <a:ext cx="438912" cy="438912"/>
          </a:xfrm>
          <a:prstGeom prst="ellipse">
            <a:avLst/>
          </a:prstGeom>
          <a:solidFill>
            <a:srgbClr val="E7EEE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349" y="1792041"/>
            <a:ext cx="210678" cy="21067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627632"/>
            <a:ext cx="32918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Connection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754880" y="1627632"/>
            <a:ext cx="58521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SDG 17 (Partnerships) stood out while exploring these tools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331720"/>
            <a:ext cx="102412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13232" y="2455164"/>
            <a:ext cx="438912" cy="438912"/>
          </a:xfrm>
          <a:prstGeom prst="ellipse">
            <a:avLst/>
          </a:prstGeom>
          <a:solidFill>
            <a:srgbClr val="E7EEE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49" y="2569281"/>
            <a:ext cx="210678" cy="21067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2404872"/>
            <a:ext cx="32918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Centre Insights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754880" y="2404872"/>
            <a:ext cx="58521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documentary revealed about AI's hidden energy cost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108960"/>
            <a:ext cx="102412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13232" y="3232404"/>
            <a:ext cx="438912" cy="438912"/>
          </a:xfrm>
          <a:prstGeom prst="ellipse">
            <a:avLst/>
          </a:prstGeom>
          <a:solidFill>
            <a:srgbClr val="E7EEE4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349" y="3346521"/>
            <a:ext cx="210678" cy="21067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3182112"/>
            <a:ext cx="32918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&amp; Global Tools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754880" y="3182112"/>
            <a:ext cx="58521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e-AMRIT, En-ROADS, footprint &amp; carbon calculators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3886200"/>
            <a:ext cx="102412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13232" y="4009644"/>
            <a:ext cx="438912" cy="438912"/>
          </a:xfrm>
          <a:prstGeom prst="ellipse">
            <a:avLst/>
          </a:prstGeom>
          <a:solidFill>
            <a:srgbClr val="E7EEE4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349" y="4123761"/>
            <a:ext cx="210678" cy="21067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3959352"/>
            <a:ext cx="32918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Skilling &amp; AI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4754880" y="3959352"/>
            <a:ext cx="58521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basics, and where AI helps vs. hurts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548640" y="4663440"/>
            <a:ext cx="102412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713232" y="4786884"/>
            <a:ext cx="438912" cy="438912"/>
          </a:xfrm>
          <a:prstGeom prst="ellipse">
            <a:avLst/>
          </a:prstGeom>
          <a:solidFill>
            <a:srgbClr val="E7EEE4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349" y="4901001"/>
            <a:ext cx="210678" cy="21067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371600" y="4736592"/>
            <a:ext cx="32918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4754880" y="4736592"/>
            <a:ext cx="58521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project idea for environment &amp; green skilling (Python + PPT)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4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6FA8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35508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Learning: SDG 17 — Partnerships for the Goals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7160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all the tools I explored, the idea behind SDG 17 stood out the most. None of these platforms work alone — each one only succeeds because different groups team up.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26974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—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built the En-ROADS simulator for public policy testing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10128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5840" y="32644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NGOs —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International runs the footprint &amp; carbon calculator</a:t>
            </a:r>
            <a:endParaRPr lang="en-US" sz="1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77056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840" y="383133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—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NITI Aayog's e-AMRIT helps citizens track EV-linked CO2 savings</a:t>
            </a:r>
            <a:endParaRPr lang="en-US" sz="12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443984"/>
            <a:ext cx="320040" cy="32004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05840" y="439826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A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Private/AI Companies —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NANDO partners with 80+ companies across 17 countries for smart waste AI</a:t>
            </a:r>
            <a:endParaRPr lang="en-US" sz="1250" dirty="0"/>
          </a:p>
        </p:txBody>
      </p:sp>
      <p:sp>
        <p:nvSpPr>
          <p:cNvPr id="14" name="Shape 7"/>
          <p:cNvSpPr/>
          <p:nvPr/>
        </p:nvSpPr>
        <p:spPr>
          <a:xfrm>
            <a:off x="6949440" y="1371600"/>
            <a:ext cx="4663440" cy="37033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/>
        </p:spPr>
      </p:sp>
      <p:sp>
        <p:nvSpPr>
          <p:cNvPr id="15" name="Text 8"/>
          <p:cNvSpPr/>
          <p:nvPr/>
        </p:nvSpPr>
        <p:spPr>
          <a:xfrm>
            <a:off x="722376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chose SDG 17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7223760" y="20574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"No single app, government, or company can fix climate change alone."</a:t>
            </a:r>
            <a:endParaRPr lang="en-US" sz="1700" dirty="0"/>
          </a:p>
        </p:txBody>
      </p:sp>
      <p:sp>
        <p:nvSpPr>
          <p:cNvPr id="17" name="Shape 10"/>
          <p:cNvSpPr/>
          <p:nvPr/>
        </p:nvSpPr>
        <p:spPr>
          <a:xfrm>
            <a:off x="7223760" y="3063240"/>
            <a:ext cx="3840480" cy="0"/>
          </a:xfrm>
          <a:prstGeom prst="line">
            <a:avLst/>
          </a:prstGeom>
          <a:noFill/>
          <a:ln w="19050">
            <a:solidFill>
              <a:srgbClr val="E4EFE0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7223760" y="320040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in this seminar exists because a government body, a university, an NGO, or a company chose to share data and build public platforms — that IS partnership in action.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1F4A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35508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Learning: Insights from the Data Centre Documentary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7160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video on data centres changed how I think about the internet and AI — every search, video, and chatbot reply is processed somewhere in a physical building that consumes real electricity and water.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2423160"/>
            <a:ext cx="3337560" cy="1371600"/>
          </a:xfrm>
          <a:prstGeom prst="roundRect">
            <a:avLst>
              <a:gd name="adj" fmla="val 5333"/>
            </a:avLst>
          </a:prstGeom>
          <a:solidFill>
            <a:srgbClr val="1F4A3D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25603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A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1-2%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31520" y="3200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electricity is already used by data centres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142232" y="2423160"/>
            <a:ext cx="3337560" cy="1371600"/>
          </a:xfrm>
          <a:prstGeom prst="roundRect">
            <a:avLst>
              <a:gd name="adj" fmla="val 5333"/>
            </a:avLst>
          </a:prstGeom>
          <a:solidFill>
            <a:srgbClr val="1F4A3D"/>
          </a:solidFill>
          <a:ln/>
        </p:spPr>
      </p:sp>
      <p:sp>
        <p:nvSpPr>
          <p:cNvPr id="10" name="Text 7"/>
          <p:cNvSpPr/>
          <p:nvPr/>
        </p:nvSpPr>
        <p:spPr>
          <a:xfrm>
            <a:off x="4325112" y="25603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A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24x7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325112" y="3200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&amp; cooling systems run non-stop, all year round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735824" y="2423160"/>
            <a:ext cx="3337560" cy="1371600"/>
          </a:xfrm>
          <a:prstGeom prst="roundRect">
            <a:avLst>
              <a:gd name="adj" fmla="val 5333"/>
            </a:avLst>
          </a:prstGeom>
          <a:solidFill>
            <a:srgbClr val="1F4A3D"/>
          </a:solidFill>
          <a:ln/>
        </p:spPr>
      </p:sp>
      <p:sp>
        <p:nvSpPr>
          <p:cNvPr id="13" name="Text 10"/>
          <p:cNvSpPr/>
          <p:nvPr/>
        </p:nvSpPr>
        <p:spPr>
          <a:xfrm>
            <a:off x="7918704" y="25603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A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⇧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7918704" y="3200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workloads are the fastest-growing driver of new demand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takeaway: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437083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responsibly also means being aware of its hidden environmental cost — efficiency and renewable-powered data centres matter as much as the AI models themselves.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1F4A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35508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Learning: Government &amp; Global Digital Tools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024128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3232" y="1618488"/>
            <a:ext cx="438912" cy="438912"/>
          </a:xfrm>
          <a:prstGeom prst="ellipse">
            <a:avLst/>
          </a:prstGeom>
          <a:solidFill>
            <a:srgbClr val="E7EEE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349" y="1732605"/>
            <a:ext cx="210678" cy="21067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5087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e-AMRIT (Govt. of India / NITI Aayog)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394960" y="150876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government CO2 calculator showing how switching to EVs cuts personal emissions — data-driven policy made public.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2331720"/>
            <a:ext cx="1024128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13232" y="2532888"/>
            <a:ext cx="438912" cy="438912"/>
          </a:xfrm>
          <a:prstGeom prst="ellipse">
            <a:avLst/>
          </a:prstGeom>
          <a:solidFill>
            <a:srgbClr val="E7EEE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49" y="2647005"/>
            <a:ext cx="210678" cy="21067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24231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En-ROADS Simulator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394960" y="242316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anyone test global climate policies (energy, carbon price, land use) and see projected 2100 temperature outcomes.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48640" y="3246120"/>
            <a:ext cx="1024128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13232" y="3447288"/>
            <a:ext cx="438912" cy="438912"/>
          </a:xfrm>
          <a:prstGeom prst="ellipse">
            <a:avLst/>
          </a:prstGeom>
          <a:solidFill>
            <a:srgbClr val="E7EEE4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349" y="3561405"/>
            <a:ext cx="210678" cy="21067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33375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 &amp; Carbon Calculators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394960" y="333756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International &amp; EcoTransIT tools turn personal habits and shipping routes into real CO2 numbers.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4160520"/>
            <a:ext cx="1024128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13232" y="4361688"/>
            <a:ext cx="438912" cy="438912"/>
          </a:xfrm>
          <a:prstGeom prst="ellipse">
            <a:avLst/>
          </a:prstGeom>
          <a:solidFill>
            <a:srgbClr val="E7EEE4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349" y="4475805"/>
            <a:ext cx="210678" cy="21067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42519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NANDO AI Waste Monitoring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5394960" y="4251960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AI already working at scale — 80+ companies, 17 countries — to make waste collection smarter.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1F4A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35508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Activities Explored (Tool Previews)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1887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screenshots weren't accessible in this offline environment, so here are simple previews of the activity performed on each platform.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02920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691640"/>
            <a:ext cx="5029200" cy="292608"/>
          </a:xfrm>
          <a:prstGeom prst="roundRect">
            <a:avLst>
              <a:gd name="adj" fmla="val 18750"/>
            </a:avLst>
          </a:prstGeom>
          <a:solidFill>
            <a:srgbClr val="E7EEE4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837944"/>
            <a:ext cx="5029200" cy="146304"/>
          </a:xfrm>
          <a:prstGeom prst="rect">
            <a:avLst/>
          </a:prstGeom>
          <a:solidFill>
            <a:srgbClr val="E7EEE4"/>
          </a:solidFill>
          <a:ln/>
        </p:spPr>
      </p:sp>
      <p:sp>
        <p:nvSpPr>
          <p:cNvPr id="9" name="Shape 6"/>
          <p:cNvSpPr/>
          <p:nvPr/>
        </p:nvSpPr>
        <p:spPr>
          <a:xfrm>
            <a:off x="658368" y="1783080"/>
            <a:ext cx="100584" cy="100584"/>
          </a:xfrm>
          <a:prstGeom prst="ellipse">
            <a:avLst/>
          </a:prstGeom>
          <a:solidFill>
            <a:srgbClr val="E4756A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1783080"/>
            <a:ext cx="100584" cy="100584"/>
          </a:xfrm>
          <a:prstGeom prst="ellipse">
            <a:avLst/>
          </a:prstGeom>
          <a:solidFill>
            <a:srgbClr val="E8C468"/>
          </a:solidFill>
          <a:ln/>
        </p:spPr>
      </p:sp>
      <p:sp>
        <p:nvSpPr>
          <p:cNvPr id="11" name="Shape 8"/>
          <p:cNvSpPr/>
          <p:nvPr/>
        </p:nvSpPr>
        <p:spPr>
          <a:xfrm>
            <a:off x="987552" y="1783080"/>
            <a:ext cx="100584" cy="100584"/>
          </a:xfrm>
          <a:prstGeom prst="ellipse">
            <a:avLst/>
          </a:prstGeom>
          <a:solidFill>
            <a:srgbClr val="7FBE7A"/>
          </a:solidFill>
          <a:ln/>
        </p:spPr>
      </p:sp>
      <p:sp>
        <p:nvSpPr>
          <p:cNvPr id="12" name="Text 9"/>
          <p:cNvSpPr/>
          <p:nvPr/>
        </p:nvSpPr>
        <p:spPr>
          <a:xfrm>
            <a:off x="1188720" y="17099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en-roads.climateinteractive.org</a:t>
            </a:r>
            <a:endParaRPr lang="en-US" sz="9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9456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21305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En-ROADS Simulation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77240" y="26974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renewable energy +40%, carbon price +$50/ton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warming reduced on live graph.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852160" y="1691640"/>
            <a:ext cx="502920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852160" y="1691640"/>
            <a:ext cx="5029200" cy="292608"/>
          </a:xfrm>
          <a:prstGeom prst="roundRect">
            <a:avLst>
              <a:gd name="adj" fmla="val 18750"/>
            </a:avLst>
          </a:prstGeom>
          <a:solidFill>
            <a:srgbClr val="E7EEE4"/>
          </a:solidFill>
          <a:ln/>
        </p:spPr>
      </p:sp>
      <p:sp>
        <p:nvSpPr>
          <p:cNvPr id="18" name="Shape 14"/>
          <p:cNvSpPr/>
          <p:nvPr/>
        </p:nvSpPr>
        <p:spPr>
          <a:xfrm>
            <a:off x="5852160" y="1837944"/>
            <a:ext cx="5029200" cy="146304"/>
          </a:xfrm>
          <a:prstGeom prst="rect">
            <a:avLst/>
          </a:prstGeom>
          <a:solidFill>
            <a:srgbClr val="E7EEE4"/>
          </a:solidFill>
          <a:ln/>
        </p:spPr>
      </p:sp>
      <p:sp>
        <p:nvSpPr>
          <p:cNvPr id="19" name="Shape 15"/>
          <p:cNvSpPr/>
          <p:nvPr/>
        </p:nvSpPr>
        <p:spPr>
          <a:xfrm>
            <a:off x="5961888" y="1783080"/>
            <a:ext cx="100584" cy="100584"/>
          </a:xfrm>
          <a:prstGeom prst="ellipse">
            <a:avLst/>
          </a:prstGeom>
          <a:solidFill>
            <a:srgbClr val="E4756A"/>
          </a:solidFill>
          <a:ln/>
        </p:spPr>
      </p:sp>
      <p:sp>
        <p:nvSpPr>
          <p:cNvPr id="20" name="Shape 16"/>
          <p:cNvSpPr/>
          <p:nvPr/>
        </p:nvSpPr>
        <p:spPr>
          <a:xfrm>
            <a:off x="6126480" y="1783080"/>
            <a:ext cx="100584" cy="100584"/>
          </a:xfrm>
          <a:prstGeom prst="ellipse">
            <a:avLst/>
          </a:prstGeom>
          <a:solidFill>
            <a:srgbClr val="E8C468"/>
          </a:solidFill>
          <a:ln/>
        </p:spPr>
      </p:sp>
      <p:sp>
        <p:nvSpPr>
          <p:cNvPr id="21" name="Shape 17"/>
          <p:cNvSpPr/>
          <p:nvPr/>
        </p:nvSpPr>
        <p:spPr>
          <a:xfrm>
            <a:off x="6291072" y="1783080"/>
            <a:ext cx="100584" cy="100584"/>
          </a:xfrm>
          <a:prstGeom prst="ellipse">
            <a:avLst/>
          </a:prstGeom>
          <a:solidFill>
            <a:srgbClr val="7FBE7A"/>
          </a:solidFill>
          <a:ln/>
        </p:spPr>
      </p:sp>
      <p:sp>
        <p:nvSpPr>
          <p:cNvPr id="22" name="Text 18"/>
          <p:cNvSpPr/>
          <p:nvPr/>
        </p:nvSpPr>
        <p:spPr>
          <a:xfrm>
            <a:off x="6492240" y="17099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footprint.conservation.org</a:t>
            </a:r>
            <a:endParaRPr lang="en-US" sz="9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194560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629400" y="21305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Footprint Quiz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080760" y="26974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lifestyle questions (travel, diet, home energy)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 a personal tons-CO2/year score.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48640" y="3703320"/>
            <a:ext cx="502920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48640" y="3703320"/>
            <a:ext cx="5029200" cy="292608"/>
          </a:xfrm>
          <a:prstGeom prst="roundRect">
            <a:avLst>
              <a:gd name="adj" fmla="val 18750"/>
            </a:avLst>
          </a:prstGeom>
          <a:solidFill>
            <a:srgbClr val="E7EEE4"/>
          </a:solidFill>
          <a:ln/>
        </p:spPr>
      </p:sp>
      <p:sp>
        <p:nvSpPr>
          <p:cNvPr id="28" name="Shape 23"/>
          <p:cNvSpPr/>
          <p:nvPr/>
        </p:nvSpPr>
        <p:spPr>
          <a:xfrm>
            <a:off x="548640" y="3849624"/>
            <a:ext cx="5029200" cy="146304"/>
          </a:xfrm>
          <a:prstGeom prst="rect">
            <a:avLst/>
          </a:prstGeom>
          <a:solidFill>
            <a:srgbClr val="E7EEE4"/>
          </a:solidFill>
          <a:ln/>
        </p:spPr>
      </p:sp>
      <p:sp>
        <p:nvSpPr>
          <p:cNvPr id="29" name="Shape 24"/>
          <p:cNvSpPr/>
          <p:nvPr/>
        </p:nvSpPr>
        <p:spPr>
          <a:xfrm>
            <a:off x="658368" y="3794760"/>
            <a:ext cx="100584" cy="100584"/>
          </a:xfrm>
          <a:prstGeom prst="ellipse">
            <a:avLst/>
          </a:prstGeom>
          <a:solidFill>
            <a:srgbClr val="E4756A"/>
          </a:solidFill>
          <a:ln/>
        </p:spPr>
      </p:sp>
      <p:sp>
        <p:nvSpPr>
          <p:cNvPr id="30" name="Shape 25"/>
          <p:cNvSpPr/>
          <p:nvPr/>
        </p:nvSpPr>
        <p:spPr>
          <a:xfrm>
            <a:off x="822960" y="3794760"/>
            <a:ext cx="100584" cy="100584"/>
          </a:xfrm>
          <a:prstGeom prst="ellipse">
            <a:avLst/>
          </a:prstGeom>
          <a:solidFill>
            <a:srgbClr val="E8C468"/>
          </a:solidFill>
          <a:ln/>
        </p:spPr>
      </p:sp>
      <p:sp>
        <p:nvSpPr>
          <p:cNvPr id="31" name="Shape 26"/>
          <p:cNvSpPr/>
          <p:nvPr/>
        </p:nvSpPr>
        <p:spPr>
          <a:xfrm>
            <a:off x="987552" y="3794760"/>
            <a:ext cx="100584" cy="100584"/>
          </a:xfrm>
          <a:prstGeom prst="ellipse">
            <a:avLst/>
          </a:prstGeom>
          <a:solidFill>
            <a:srgbClr val="7FBE7A"/>
          </a:solidFill>
          <a:ln/>
        </p:spPr>
      </p:sp>
      <p:sp>
        <p:nvSpPr>
          <p:cNvPr id="32" name="Text 27"/>
          <p:cNvSpPr/>
          <p:nvPr/>
        </p:nvSpPr>
        <p:spPr>
          <a:xfrm>
            <a:off x="1188720" y="37216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e-amrit.niti.gov.in</a:t>
            </a:r>
            <a:endParaRPr lang="en-US" sz="95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06240"/>
            <a:ext cx="411480" cy="41148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325880" y="41422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e-AMRIT CO2 Calculator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777240" y="47091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petrol vs. EV two-wheeler over 5 years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saw estimated CO2 &amp; cost savings.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5852160" y="3703320"/>
            <a:ext cx="502920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5852160" y="3703320"/>
            <a:ext cx="5029200" cy="292608"/>
          </a:xfrm>
          <a:prstGeom prst="roundRect">
            <a:avLst>
              <a:gd name="adj" fmla="val 18750"/>
            </a:avLst>
          </a:prstGeom>
          <a:solidFill>
            <a:srgbClr val="E7EEE4"/>
          </a:solidFill>
          <a:ln/>
        </p:spPr>
      </p:sp>
      <p:sp>
        <p:nvSpPr>
          <p:cNvPr id="38" name="Shape 32"/>
          <p:cNvSpPr/>
          <p:nvPr/>
        </p:nvSpPr>
        <p:spPr>
          <a:xfrm>
            <a:off x="5852160" y="3849624"/>
            <a:ext cx="5029200" cy="146304"/>
          </a:xfrm>
          <a:prstGeom prst="rect">
            <a:avLst/>
          </a:prstGeom>
          <a:solidFill>
            <a:srgbClr val="E7EEE4"/>
          </a:solidFill>
          <a:ln/>
        </p:spPr>
      </p:sp>
      <p:sp>
        <p:nvSpPr>
          <p:cNvPr id="39" name="Shape 33"/>
          <p:cNvSpPr/>
          <p:nvPr/>
        </p:nvSpPr>
        <p:spPr>
          <a:xfrm>
            <a:off x="5961888" y="3794760"/>
            <a:ext cx="100584" cy="100584"/>
          </a:xfrm>
          <a:prstGeom prst="ellipse">
            <a:avLst/>
          </a:prstGeom>
          <a:solidFill>
            <a:srgbClr val="E4756A"/>
          </a:solidFill>
          <a:ln/>
        </p:spPr>
      </p:sp>
      <p:sp>
        <p:nvSpPr>
          <p:cNvPr id="40" name="Shape 34"/>
          <p:cNvSpPr/>
          <p:nvPr/>
        </p:nvSpPr>
        <p:spPr>
          <a:xfrm>
            <a:off x="6126480" y="3794760"/>
            <a:ext cx="100584" cy="100584"/>
          </a:xfrm>
          <a:prstGeom prst="ellipse">
            <a:avLst/>
          </a:prstGeom>
          <a:solidFill>
            <a:srgbClr val="E8C468"/>
          </a:solidFill>
          <a:ln/>
        </p:spPr>
      </p:sp>
      <p:sp>
        <p:nvSpPr>
          <p:cNvPr id="41" name="Shape 35"/>
          <p:cNvSpPr/>
          <p:nvPr/>
        </p:nvSpPr>
        <p:spPr>
          <a:xfrm>
            <a:off x="6291072" y="3794760"/>
            <a:ext cx="100584" cy="100584"/>
          </a:xfrm>
          <a:prstGeom prst="ellipse">
            <a:avLst/>
          </a:prstGeom>
          <a:solidFill>
            <a:srgbClr val="7FBE7A"/>
          </a:solidFill>
          <a:ln/>
        </p:spPr>
      </p:sp>
      <p:sp>
        <p:nvSpPr>
          <p:cNvPr id="42" name="Text 36"/>
          <p:cNvSpPr/>
          <p:nvPr/>
        </p:nvSpPr>
        <p:spPr>
          <a:xfrm>
            <a:off x="6492240" y="37216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emissioncalculator.ecotransit.world</a:t>
            </a:r>
            <a:endParaRPr lang="en-US" sz="950" dirty="0"/>
          </a:p>
        </p:txBody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4206240"/>
            <a:ext cx="411480" cy="41148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6629400" y="41422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EcoTransIT Shipment Calc</a:t>
            </a:r>
            <a:endParaRPr lang="en-US" sz="1300" dirty="0"/>
          </a:p>
        </p:txBody>
      </p:sp>
      <p:sp>
        <p:nvSpPr>
          <p:cNvPr id="45" name="Text 38"/>
          <p:cNvSpPr/>
          <p:nvPr/>
        </p:nvSpPr>
        <p:spPr>
          <a:xfrm>
            <a:off x="6080760" y="47091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a sample shipping route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CO2 emitted by road vs. air vs. sea.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1F4A3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635508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572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Reference: Green Skilling, Sustainability &amp; AI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444752"/>
            <a:ext cx="457200" cy="457200"/>
          </a:xfrm>
          <a:prstGeom prst="ellipse">
            <a:avLst/>
          </a:prstGeom>
          <a:solidFill>
            <a:srgbClr val="E7EEE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1563624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Skilling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371600" y="171907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people for eco-friendly careers — solar techs, EV mechanics, waste managers — so the green economy has skilled workers (e.g., SCGJ).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760720" y="128016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943600" y="1444752"/>
            <a:ext cx="457200" cy="457200"/>
          </a:xfrm>
          <a:prstGeom prst="ellipse">
            <a:avLst/>
          </a:prstGeom>
          <a:solidFill>
            <a:srgbClr val="E7EEE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472" y="1563624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8368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583680" y="171907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today's needs (environmental, social, economic) without harming the ability of future generations to meet theirs.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48640" y="2743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Sustainability — Two Sides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3108960"/>
            <a:ext cx="5029200" cy="1783080"/>
          </a:xfrm>
          <a:prstGeom prst="roundRect">
            <a:avLst>
              <a:gd name="adj" fmla="val 4103"/>
            </a:avLst>
          </a:prstGeom>
          <a:solidFill>
            <a:srgbClr val="E9F3EA"/>
          </a:solidFill>
          <a:ln/>
        </p:spPr>
      </p:sp>
      <p:sp>
        <p:nvSpPr>
          <p:cNvPr id="17" name="Text 12"/>
          <p:cNvSpPr/>
          <p:nvPr/>
        </p:nvSpPr>
        <p:spPr>
          <a:xfrm>
            <a:off x="77724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Where AI Helps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68680" y="36118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power grids &amp; renewable energy use</a:t>
            </a:r>
            <a:endParaRPr lang="en-US" sz="1080" dirty="0"/>
          </a:p>
        </p:txBody>
      </p:sp>
      <p:sp>
        <p:nvSpPr>
          <p:cNvPr id="19" name="Text 14"/>
          <p:cNvSpPr/>
          <p:nvPr/>
        </p:nvSpPr>
        <p:spPr>
          <a:xfrm>
            <a:off x="868680" y="39319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climate patterns and natural disasters</a:t>
            </a:r>
            <a:endParaRPr lang="en-US" sz="1080" dirty="0"/>
          </a:p>
        </p:txBody>
      </p:sp>
      <p:sp>
        <p:nvSpPr>
          <p:cNvPr id="20" name="Text 15"/>
          <p:cNvSpPr/>
          <p:nvPr/>
        </p:nvSpPr>
        <p:spPr>
          <a:xfrm>
            <a:off x="868680" y="42519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waste &amp; detects recyclables (e.g., NANDO)</a:t>
            </a:r>
            <a:endParaRPr lang="en-US" sz="1080" dirty="0"/>
          </a:p>
        </p:txBody>
      </p:sp>
      <p:sp>
        <p:nvSpPr>
          <p:cNvPr id="21" name="Text 16"/>
          <p:cNvSpPr/>
          <p:nvPr/>
        </p:nvSpPr>
        <p:spPr>
          <a:xfrm>
            <a:off x="868680" y="45720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precision farming, cutting water/fertilizer waste</a:t>
            </a:r>
            <a:endParaRPr lang="en-US" sz="1080" dirty="0"/>
          </a:p>
        </p:txBody>
      </p:sp>
      <p:sp>
        <p:nvSpPr>
          <p:cNvPr id="22" name="Shape 17"/>
          <p:cNvSpPr/>
          <p:nvPr/>
        </p:nvSpPr>
        <p:spPr>
          <a:xfrm>
            <a:off x="5760720" y="3108960"/>
            <a:ext cx="5029200" cy="1783080"/>
          </a:xfrm>
          <a:prstGeom prst="roundRect">
            <a:avLst>
              <a:gd name="adj" fmla="val 4103"/>
            </a:avLst>
          </a:prstGeom>
          <a:solidFill>
            <a:srgbClr val="FBEEE9"/>
          </a:solidFill>
          <a:ln/>
        </p:spPr>
      </p:sp>
      <p:sp>
        <p:nvSpPr>
          <p:cNvPr id="23" name="Text 18"/>
          <p:cNvSpPr/>
          <p:nvPr/>
        </p:nvSpPr>
        <p:spPr>
          <a:xfrm>
            <a:off x="598932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Where AI Hurts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080760" y="36118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9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large AI models uses huge electricity &amp; water</a:t>
            </a:r>
            <a:endParaRPr lang="en-US" sz="1080" dirty="0"/>
          </a:p>
        </p:txBody>
      </p:sp>
      <p:sp>
        <p:nvSpPr>
          <p:cNvPr id="25" name="Text 20"/>
          <p:cNvSpPr/>
          <p:nvPr/>
        </p:nvSpPr>
        <p:spPr>
          <a:xfrm>
            <a:off x="6080760" y="39319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9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hardware demand increases e-waste</a:t>
            </a:r>
            <a:endParaRPr lang="en-US" sz="1080" dirty="0"/>
          </a:p>
        </p:txBody>
      </p:sp>
      <p:sp>
        <p:nvSpPr>
          <p:cNvPr id="26" name="Text 21"/>
          <p:cNvSpPr/>
          <p:nvPr/>
        </p:nvSpPr>
        <p:spPr>
          <a:xfrm>
            <a:off x="6080760" y="42519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9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centres often still rely on fossil-fuel power</a:t>
            </a:r>
            <a:endParaRPr lang="en-US" sz="1080" dirty="0"/>
          </a:p>
        </p:txBody>
      </p:sp>
      <p:sp>
        <p:nvSpPr>
          <p:cNvPr id="27" name="Text 22"/>
          <p:cNvSpPr/>
          <p:nvPr/>
        </p:nvSpPr>
        <p:spPr>
          <a:xfrm>
            <a:off x="6080760" y="45720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94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8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device upgrades shorten hardware lifespans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A3D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6FA8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948" y="63550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/>
          <p:nvPr/>
        </p:nvSpPr>
        <p:spPr>
          <a:xfrm>
            <a:off x="1417320" y="457200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Capstone Project: AI for Environment &amp; Green Skilling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548640" y="12801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A85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6FA85A"/>
                </a:solidFill>
                <a:latin typeface="Calibri"/>
                <a:ea typeface="Calibri"/>
                <a:cs typeface="Calibri"/>
                <a:sym typeface="Calibri"/>
              </a:rPr>
              <a:t>Project name options (SDG 7 · 12 · 13 · 17):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548640" y="1645920"/>
            <a:ext cx="10058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EcoMitra — AI Carbon Footprint &amp; Green Career Advisor  (featured below)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548640" y="2011680"/>
            <a:ext cx="10058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GreenSort — AI-based Waste Classification Assistant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548640" y="2377440"/>
            <a:ext cx="10058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PowerWise — AI Data-Centre Energy Optimization Simulator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548640" y="2971800"/>
            <a:ext cx="10241400" cy="196590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777240" y="3200400"/>
            <a:ext cx="502800" cy="502800"/>
          </a:xfrm>
          <a:prstGeom prst="ellipse">
            <a:avLst/>
          </a:prstGeom>
          <a:solidFill>
            <a:srgbClr val="E7EEE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7999" y="333115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"/>
          <p:cNvSpPr/>
          <p:nvPr/>
        </p:nvSpPr>
        <p:spPr>
          <a:xfrm>
            <a:off x="1417320" y="320040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A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F4A3D"/>
                </a:solidFill>
                <a:latin typeface="Calibri"/>
                <a:ea typeface="Calibri"/>
                <a:cs typeface="Calibri"/>
                <a:sym typeface="Calibri"/>
              </a:rPr>
              <a:t>EcoMitra — how it works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1417320" y="3657600"/>
            <a:ext cx="109800" cy="109800"/>
          </a:xfrm>
          <a:prstGeom prst="ellipse">
            <a:avLst/>
          </a:prstGeom>
          <a:solidFill>
            <a:srgbClr val="6FA8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1673352" y="3538728"/>
            <a:ext cx="4480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A24"/>
                </a:solidFill>
                <a:latin typeface="Calibri"/>
                <a:ea typeface="Calibri"/>
                <a:cs typeface="Calibri"/>
                <a:sym typeface="Calibri"/>
              </a:rPr>
              <a:t>Trains a simple AI (linear regression) on lifestyle → CO2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6263640" y="3657600"/>
            <a:ext cx="109800" cy="109800"/>
          </a:xfrm>
          <a:prstGeom prst="ellipse">
            <a:avLst/>
          </a:prstGeom>
          <a:solidFill>
            <a:srgbClr val="6FA8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6519672" y="3538728"/>
            <a:ext cx="4480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A24"/>
                </a:solidFill>
                <a:latin typeface="Calibri"/>
                <a:ea typeface="Calibri"/>
                <a:cs typeface="Calibri"/>
                <a:sym typeface="Calibri"/>
              </a:rPr>
              <a:t>User enters electricity, travel, flights &amp; diet habits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1417320" y="4160520"/>
            <a:ext cx="109800" cy="109800"/>
          </a:xfrm>
          <a:prstGeom prst="ellipse">
            <a:avLst/>
          </a:prstGeom>
          <a:solidFill>
            <a:srgbClr val="6FA8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"/>
          <p:cNvSpPr/>
          <p:nvPr/>
        </p:nvSpPr>
        <p:spPr>
          <a:xfrm>
            <a:off x="1673352" y="4041648"/>
            <a:ext cx="4480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A24"/>
                </a:solidFill>
                <a:latin typeface="Calibri"/>
                <a:ea typeface="Calibri"/>
                <a:cs typeface="Calibri"/>
                <a:sym typeface="Calibri"/>
              </a:rPr>
              <a:t>Predicts yearly footprint + shows category breakdown chart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6263640" y="4160520"/>
            <a:ext cx="109800" cy="109800"/>
          </a:xfrm>
          <a:prstGeom prst="ellipse">
            <a:avLst/>
          </a:prstGeom>
          <a:solidFill>
            <a:srgbClr val="6FA8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"/>
          <p:cNvSpPr/>
          <p:nvPr/>
        </p:nvSpPr>
        <p:spPr>
          <a:xfrm>
            <a:off x="6519672" y="4041648"/>
            <a:ext cx="4480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2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F2A24"/>
                </a:solidFill>
                <a:latin typeface="Calibri"/>
                <a:ea typeface="Calibri"/>
                <a:cs typeface="Calibri"/>
                <a:sym typeface="Calibri"/>
              </a:rPr>
              <a:t>Recommends tips AND a matching Green Job / SCGJ skilling track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1417320" y="4663440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C5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C5C53"/>
                </a:solidFill>
                <a:latin typeface="Calibri"/>
                <a:ea typeface="Calibri"/>
                <a:cs typeface="Calibri"/>
                <a:sym typeface="Calibri"/>
              </a:rPr>
              <a:t>Deliverables: EcoMitra.py (Python source code)  +  this presentation (.pptx)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548640" y="507492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E4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9E4B8"/>
                </a:solidFill>
                <a:latin typeface="Calibri"/>
                <a:ea typeface="Calibri"/>
                <a:cs typeface="Calibri"/>
                <a:sym typeface="Calibri"/>
              </a:rPr>
              <a:t>Thank You — Pa</a:t>
            </a:r>
            <a:r>
              <a:rPr lang="en-US" sz="1100">
                <a:solidFill>
                  <a:srgbClr val="C9E4B8"/>
                </a:solidFill>
                <a:latin typeface="Calibri"/>
                <a:ea typeface="Calibri"/>
                <a:cs typeface="Calibri"/>
                <a:sym typeface="Calibri"/>
              </a:rPr>
              <a:t>tel Dhiraj Nitin </a:t>
            </a:r>
            <a:r>
              <a:rPr b="0" i="0" lang="en-US" sz="1100" u="none" cap="none" strike="noStrike">
                <a:solidFill>
                  <a:srgbClr val="C9E4B8"/>
                </a:solidFill>
                <a:latin typeface="Calibri"/>
                <a:ea typeface="Calibri"/>
                <a:cs typeface="Calibri"/>
                <a:sym typeface="Calibri"/>
              </a:rPr>
              <a:t> | CSE | RNGPIT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